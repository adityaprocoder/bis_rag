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Helvetica Neue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786a7a36d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786a7a36d_2_75:notes"/>
          <p:cNvSpPr/>
          <p:nvPr>
            <p:ph idx="2" type="sldImg"/>
          </p:nvPr>
        </p:nvSpPr>
        <p:spPr>
          <a:xfrm>
            <a:off x="1141438" y="685800"/>
            <a:ext cx="457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786a7a36d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786a7a36d_2_91:notes"/>
          <p:cNvSpPr/>
          <p:nvPr>
            <p:ph idx="2" type="sldImg"/>
          </p:nvPr>
        </p:nvSpPr>
        <p:spPr>
          <a:xfrm>
            <a:off x="1141438" y="685800"/>
            <a:ext cx="457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786a7a36d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786a7a36d_2_104:notes"/>
          <p:cNvSpPr/>
          <p:nvPr>
            <p:ph idx="2" type="sldImg"/>
          </p:nvPr>
        </p:nvSpPr>
        <p:spPr>
          <a:xfrm>
            <a:off x="1141438" y="685800"/>
            <a:ext cx="457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786a7a36d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786a7a36d_2_127:notes"/>
          <p:cNvSpPr/>
          <p:nvPr>
            <p:ph idx="2" type="sldImg"/>
          </p:nvPr>
        </p:nvSpPr>
        <p:spPr>
          <a:xfrm>
            <a:off x="1141438" y="685800"/>
            <a:ext cx="457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786a7a36d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786a7a36d_2_150:notes"/>
          <p:cNvSpPr/>
          <p:nvPr>
            <p:ph idx="2" type="sldImg"/>
          </p:nvPr>
        </p:nvSpPr>
        <p:spPr>
          <a:xfrm>
            <a:off x="1141438" y="685800"/>
            <a:ext cx="457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786a7a36d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786a7a36d_2_165:notes"/>
          <p:cNvSpPr/>
          <p:nvPr>
            <p:ph idx="2" type="sldImg"/>
          </p:nvPr>
        </p:nvSpPr>
        <p:spPr>
          <a:xfrm>
            <a:off x="1141438" y="685800"/>
            <a:ext cx="457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786a7a36d_2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786a7a36d_2_186:notes"/>
          <p:cNvSpPr/>
          <p:nvPr>
            <p:ph idx="2" type="sldImg"/>
          </p:nvPr>
        </p:nvSpPr>
        <p:spPr>
          <a:xfrm>
            <a:off x="1141438" y="685800"/>
            <a:ext cx="4575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786a7a36d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786a7a36d_2_197:notes"/>
          <p:cNvSpPr/>
          <p:nvPr>
            <p:ph idx="2" type="sldImg"/>
          </p:nvPr>
        </p:nvSpPr>
        <p:spPr>
          <a:xfrm>
            <a:off x="1141438" y="685800"/>
            <a:ext cx="457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86064" y="1198364"/>
            <a:ext cx="4375393" cy="826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772128" y="2185988"/>
            <a:ext cx="3603265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57376" y="154484"/>
            <a:ext cx="4632769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57376" y="900113"/>
            <a:ext cx="4632769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06619" y="2478881"/>
            <a:ext cx="4375393" cy="766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None/>
              <a:defRPr b="1" sz="2300" cap="none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06619" y="1635026"/>
            <a:ext cx="4375393" cy="843855"/>
          </a:xfrm>
          <a:prstGeom prst="rect">
            <a:avLst/>
          </a:prstGeom>
          <a:noFill/>
          <a:ln>
            <a:noFill/>
          </a:ln>
        </p:spPr>
        <p:txBody>
          <a:bodyPr anchorCtr="0" anchor="b" bIns="25725" lIns="51450" spcFirstLastPara="1" rIns="51450" wrap="square" tIns="2572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57376" y="154484"/>
            <a:ext cx="4632769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57376" y="900113"/>
            <a:ext cx="2273489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2616657" y="900113"/>
            <a:ext cx="2273489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2984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57376" y="154484"/>
            <a:ext cx="4632769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57376" y="863501"/>
            <a:ext cx="2274383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25" lIns="51450" spcFirstLastPara="1" rIns="51450" wrap="square" tIns="2572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57376" y="1223367"/>
            <a:ext cx="2274383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2614869" y="863501"/>
            <a:ext cx="2275276" cy="359866"/>
          </a:xfrm>
          <a:prstGeom prst="rect">
            <a:avLst/>
          </a:prstGeom>
          <a:noFill/>
          <a:ln>
            <a:noFill/>
          </a:ln>
        </p:spPr>
        <p:txBody>
          <a:bodyPr anchorCtr="0" anchor="b" bIns="25725" lIns="51450" spcFirstLastPara="1" rIns="51450" wrap="square" tIns="2572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2614869" y="1223367"/>
            <a:ext cx="2275276" cy="222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2984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57376" y="154484"/>
            <a:ext cx="4632769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57376" y="153591"/>
            <a:ext cx="1693499" cy="653653"/>
          </a:xfrm>
          <a:prstGeom prst="rect">
            <a:avLst/>
          </a:prstGeom>
          <a:noFill/>
          <a:ln>
            <a:noFill/>
          </a:ln>
        </p:spPr>
        <p:txBody>
          <a:bodyPr anchorCtr="0" anchor="b" bIns="25725" lIns="51450" spcFirstLastPara="1" rIns="51450" wrap="square" tIns="257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012538" y="153591"/>
            <a:ext cx="2877608" cy="329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2984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57376" y="807244"/>
            <a:ext cx="1693499" cy="2638723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008950" y="2700338"/>
            <a:ext cx="3088513" cy="318790"/>
          </a:xfrm>
          <a:prstGeom prst="rect">
            <a:avLst/>
          </a:prstGeom>
          <a:noFill/>
          <a:ln>
            <a:noFill/>
          </a:ln>
        </p:spPr>
        <p:txBody>
          <a:bodyPr anchorCtr="0" anchor="b" bIns="25725" lIns="51450" spcFirstLastPara="1" rIns="51450" wrap="square" tIns="257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1" sz="11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008950" y="344686"/>
            <a:ext cx="3088513" cy="231457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008950" y="3019128"/>
            <a:ext cx="3088513" cy="452735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57376" y="154484"/>
            <a:ext cx="4632769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300834" y="-143345"/>
            <a:ext cx="2545854" cy="4632769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665308" y="1221129"/>
            <a:ext cx="3291483" cy="1158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06027" y="105833"/>
            <a:ext cx="3291483" cy="3388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2921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376" y="154484"/>
            <a:ext cx="4632769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b="0" i="0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376" y="900113"/>
            <a:ext cx="4632769" cy="2545854"/>
          </a:xfrm>
          <a:prstGeom prst="rect">
            <a:avLst/>
          </a:prstGeom>
          <a:noFill/>
          <a:ln>
            <a:noFill/>
          </a:ln>
        </p:spPr>
        <p:txBody>
          <a:bodyPr anchorCtr="0" anchor="t" bIns="25725" lIns="51450" spcFirstLastPara="1" rIns="51450" wrap="square" tIns="25725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7376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758737" y="3575447"/>
            <a:ext cx="163004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689057" y="3575447"/>
            <a:ext cx="1201088" cy="205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25" lIns="51450" spcFirstLastPara="1" rIns="51450" wrap="square" tIns="257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hyperlink" Target="http://github.com/AdityaProCoder/bis_ra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0" y="-476250"/>
            <a:ext cx="11049000" cy="7524750"/>
            <a:chOff x="0" y="-476250"/>
            <a:chExt cx="11049000" cy="7524750"/>
          </a:xfrm>
        </p:grpSpPr>
        <p:pic>
          <p:nvPicPr>
            <p:cNvPr id="85" name="Google Shape;85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3810000" cy="381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3"/>
            <p:cNvSpPr/>
            <p:nvPr/>
          </p:nvSpPr>
          <p:spPr>
            <a:xfrm>
              <a:off x="6667500" y="-476250"/>
              <a:ext cx="2857500" cy="2857500"/>
            </a:xfrm>
            <a:prstGeom prst="ellipse">
              <a:avLst/>
            </a:prstGeom>
            <a:solidFill>
              <a:srgbClr val="8B5CF6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7239000" y="3238500"/>
              <a:ext cx="3810000" cy="3810000"/>
            </a:xfrm>
            <a:prstGeom prst="ellipse">
              <a:avLst/>
            </a:prstGeom>
            <a:solidFill>
              <a:srgbClr val="10B981">
                <a:alpha val="3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3"/>
          <p:cNvSpPr txBox="1"/>
          <p:nvPr/>
        </p:nvSpPr>
        <p:spPr>
          <a:xfrm>
            <a:off x="428625" y="285750"/>
            <a:ext cx="1905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 // THE PROBLEM</a:t>
            </a:r>
            <a:endParaRPr b="1" sz="10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28625" y="666750"/>
            <a:ext cx="7620000" cy="41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2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1" lang="en-GB" sz="2720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Gap</a:t>
            </a:r>
            <a:r>
              <a:rPr b="1" lang="en-GB" sz="272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Regulatory Compliance.</a:t>
            </a:r>
            <a:endParaRPr b="1" sz="272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28625" y="1333500"/>
            <a:ext cx="82869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Indian MSMEs struggle to map colloquial product descriptions to strict alphanumeric BIS standards. This gap turns simple queries into weeks-long manual consulting, draining capital and delaying market entry.</a:t>
            </a:r>
            <a:endParaRPr b="0" sz="14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1" name="Google Shape;91;p13"/>
          <p:cNvGrpSpPr/>
          <p:nvPr/>
        </p:nvGrpSpPr>
        <p:grpSpPr>
          <a:xfrm>
            <a:off x="428625" y="2286000"/>
            <a:ext cx="2571900" cy="2286000"/>
            <a:chOff x="428625" y="2286000"/>
            <a:chExt cx="2571900" cy="2286000"/>
          </a:xfrm>
        </p:grpSpPr>
        <p:sp>
          <p:nvSpPr>
            <p:cNvPr id="92" name="Google Shape;92;p13"/>
            <p:cNvSpPr/>
            <p:nvPr/>
          </p:nvSpPr>
          <p:spPr>
            <a:xfrm>
              <a:off x="428625" y="2286000"/>
              <a:ext cx="2571900" cy="2286000"/>
            </a:xfrm>
            <a:prstGeom prst="roundRect">
              <a:avLst>
                <a:gd fmla="val 5000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19125" y="247650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22D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714375" y="24574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Unstructured Data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619125" y="2857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Regulatory texts like BIS issues are dense and tabular.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Not searchable by natural intent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Highly complex structures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Manual parsing required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6" name="Google Shape;96;p13"/>
          <p:cNvGrpSpPr/>
          <p:nvPr/>
        </p:nvGrpSpPr>
        <p:grpSpPr>
          <a:xfrm>
            <a:off x="3286125" y="2286000"/>
            <a:ext cx="2571900" cy="2286000"/>
            <a:chOff x="3286125" y="2286000"/>
            <a:chExt cx="2571900" cy="2286000"/>
          </a:xfrm>
        </p:grpSpPr>
        <p:sp>
          <p:nvSpPr>
            <p:cNvPr id="97" name="Google Shape;97;p13"/>
            <p:cNvSpPr/>
            <p:nvPr/>
          </p:nvSpPr>
          <p:spPr>
            <a:xfrm>
              <a:off x="3286125" y="2286000"/>
              <a:ext cx="2571900" cy="2286000"/>
            </a:xfrm>
            <a:prstGeom prst="roundRect">
              <a:avLst>
                <a:gd fmla="val 5000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476625" y="247650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3571875" y="24574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High Ambiguity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3476625" y="2857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Standard keyword searches fail to distinguish nuances.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Confuses material types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Misinterprets use-cases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Lacks contextual logic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01" name="Google Shape;101;p13"/>
          <p:cNvGrpSpPr/>
          <p:nvPr/>
        </p:nvGrpSpPr>
        <p:grpSpPr>
          <a:xfrm>
            <a:off x="6143625" y="2286000"/>
            <a:ext cx="2571900" cy="2286000"/>
            <a:chOff x="6143625" y="2286000"/>
            <a:chExt cx="2571900" cy="2286000"/>
          </a:xfrm>
        </p:grpSpPr>
        <p:sp>
          <p:nvSpPr>
            <p:cNvPr id="102" name="Google Shape;102;p13"/>
            <p:cNvSpPr/>
            <p:nvPr/>
          </p:nvSpPr>
          <p:spPr>
            <a:xfrm>
              <a:off x="6143625" y="2286000"/>
              <a:ext cx="2571900" cy="2286000"/>
            </a:xfrm>
            <a:prstGeom prst="roundRect">
              <a:avLst>
                <a:gd fmla="val 5000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6334125" y="247650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6429375" y="245745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Hallucination Risks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6334125" y="2857500"/>
              <a:ext cx="2190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Off-the-shelf LLMs are dangerous for compliance.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Invents fake "IS" codes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Confident misinformation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Helvetica Neue"/>
                <a:buChar char="●"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Zero factual grounding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-35748" y="464345"/>
            <a:ext cx="4218383" cy="3214688"/>
          </a:xfrm>
          <a:custGeom>
            <a:rect b="b" l="l" r="r" t="t"/>
            <a:pathLst>
              <a:path extrusionOk="0" h="5715000" w="7499347">
                <a:moveTo>
                  <a:pt x="0" y="0"/>
                </a:moveTo>
                <a:lnTo>
                  <a:pt x="7499347" y="0"/>
                </a:lnTo>
                <a:lnTo>
                  <a:pt x="7499347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4"/>
          <p:cNvSpPr/>
          <p:nvPr/>
        </p:nvSpPr>
        <p:spPr>
          <a:xfrm>
            <a:off x="393212" y="-35720"/>
            <a:ext cx="8786813" cy="3432574"/>
          </a:xfrm>
          <a:custGeom>
            <a:rect b="b" l="l" r="r" t="t"/>
            <a:pathLst>
              <a:path extrusionOk="0" h="6102353" w="15621000">
                <a:moveTo>
                  <a:pt x="0" y="0"/>
                </a:moveTo>
                <a:lnTo>
                  <a:pt x="15621000" y="0"/>
                </a:lnTo>
                <a:lnTo>
                  <a:pt x="15621000" y="6102353"/>
                </a:lnTo>
                <a:lnTo>
                  <a:pt x="0" y="6102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 txBox="1"/>
          <p:nvPr/>
        </p:nvSpPr>
        <p:spPr>
          <a:xfrm>
            <a:off x="428960" y="144634"/>
            <a:ext cx="664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 // The Solution</a:t>
            </a:r>
            <a:endParaRPr sz="800"/>
          </a:p>
        </p:txBody>
      </p:sp>
      <p:sp>
        <p:nvSpPr>
          <p:cNvPr id="113" name="Google Shape;113;p14"/>
          <p:cNvSpPr txBox="1"/>
          <p:nvPr/>
        </p:nvSpPr>
        <p:spPr>
          <a:xfrm>
            <a:off x="428950" y="547400"/>
            <a:ext cx="35661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Overview</a:t>
            </a:r>
            <a:endParaRPr sz="800"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Production-Ready </a:t>
            </a:r>
            <a:r>
              <a:rPr b="1" i="0" lang="en-GB" sz="1400" u="none" cap="none" strike="noStrike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Discovery Pipeline.</a:t>
            </a:r>
            <a:endParaRPr sz="800"/>
          </a:p>
        </p:txBody>
      </p:sp>
      <p:sp>
        <p:nvSpPr>
          <p:cNvPr id="114" name="Google Shape;114;p14"/>
          <p:cNvSpPr txBox="1"/>
          <p:nvPr/>
        </p:nvSpPr>
        <p:spPr>
          <a:xfrm>
            <a:off x="529514" y="1301756"/>
            <a:ext cx="23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800"/>
          </a:p>
        </p:txBody>
      </p:sp>
      <p:sp>
        <p:nvSpPr>
          <p:cNvPr id="115" name="Google Shape;115;p14"/>
          <p:cNvSpPr txBox="1"/>
          <p:nvPr/>
        </p:nvSpPr>
        <p:spPr>
          <a:xfrm>
            <a:off x="428960" y="1301756"/>
            <a:ext cx="34119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interactive dashboard powered by a deterministic, offline-capable RAG engine that maps natural-language queries to approved IS codes.</a:t>
            </a:r>
            <a:endParaRPr sz="800"/>
          </a:p>
        </p:txBody>
      </p:sp>
      <p:sp>
        <p:nvSpPr>
          <p:cNvPr id="116" name="Google Shape;116;p14"/>
          <p:cNvSpPr txBox="1"/>
          <p:nvPr/>
        </p:nvSpPr>
        <p:spPr>
          <a:xfrm>
            <a:off x="557648" y="2848304"/>
            <a:ext cx="30762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8B5CF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 2: Guided Discovery</a:t>
            </a:r>
            <a:endParaRPr sz="800"/>
          </a:p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Click-through structured workflow (Category - Keyword - Standard) for rapid browsing without typing.</a:t>
            </a:r>
            <a:endParaRPr sz="800"/>
          </a:p>
        </p:txBody>
      </p:sp>
      <p:sp>
        <p:nvSpPr>
          <p:cNvPr id="117" name="Google Shape;117;p14"/>
          <p:cNvSpPr txBox="1"/>
          <p:nvPr/>
        </p:nvSpPr>
        <p:spPr>
          <a:xfrm>
            <a:off x="557648" y="2057132"/>
            <a:ext cx="3118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 1: AI Agent Search</a:t>
            </a:r>
            <a:endParaRPr sz="800"/>
          </a:p>
          <a:p>
            <a:pPr indent="0" lvl="0" marL="0" marR="0" rtl="0" algn="l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natural-language processing with real-time AI rationale generation via localized Ollama models.</a:t>
            </a:r>
            <a:endParaRPr sz="800"/>
          </a:p>
        </p:txBody>
      </p:sp>
      <p:sp>
        <p:nvSpPr>
          <p:cNvPr id="118" name="Google Shape;118;p14"/>
          <p:cNvSpPr txBox="1"/>
          <p:nvPr/>
        </p:nvSpPr>
        <p:spPr>
          <a:xfrm>
            <a:off x="4632769" y="1326032"/>
            <a:ext cx="11025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00" u="none" cap="none" strike="noStrike">
                <a:solidFill>
                  <a:srgbClr val="94A3B8"/>
                </a:solidFill>
                <a:latin typeface="Courier"/>
                <a:ea typeface="Courier"/>
                <a:cs typeface="Courier"/>
                <a:sym typeface="Courier"/>
              </a:rPr>
              <a:t>// JSON Output Specification</a:t>
            </a:r>
            <a:endParaRPr sz="800"/>
          </a:p>
        </p:txBody>
      </p:sp>
      <p:sp>
        <p:nvSpPr>
          <p:cNvPr id="119" name="Google Shape;119;p14"/>
          <p:cNvSpPr txBox="1"/>
          <p:nvPr/>
        </p:nvSpPr>
        <p:spPr>
          <a:xfrm>
            <a:off x="4632769" y="1689918"/>
            <a:ext cx="3782400" cy="13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E2E8F0"/>
                </a:solidFill>
                <a:latin typeface="Courier"/>
                <a:ea typeface="Courier"/>
                <a:cs typeface="Courier"/>
                <a:sym typeface="Courier"/>
              </a:rPr>
              <a:t>{</a:t>
            </a:r>
            <a:endParaRPr sz="800"/>
          </a:p>
          <a:p>
            <a:pPr indent="0" lvl="0" marL="0" marR="0" rtl="0" algn="just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22D3EE"/>
                </a:solidFill>
                <a:latin typeface="Courier"/>
                <a:ea typeface="Courier"/>
                <a:cs typeface="Courier"/>
                <a:sym typeface="Courier"/>
              </a:rPr>
              <a:t>"retrieved"</a:t>
            </a:r>
            <a:r>
              <a:rPr b="0" i="0" lang="en-GB" sz="700" u="none" cap="none" strike="noStrike">
                <a:solidFill>
                  <a:srgbClr val="F8FAFC"/>
                </a:solidFill>
                <a:latin typeface="Courier"/>
                <a:ea typeface="Courier"/>
                <a:cs typeface="Courier"/>
                <a:sym typeface="Courier"/>
              </a:rPr>
              <a:t>: [</a:t>
            </a:r>
            <a:endParaRPr sz="800"/>
          </a:p>
          <a:p>
            <a:pPr indent="0" lvl="0" marL="0" marR="0" rtl="0" algn="just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F8FAFC"/>
                </a:solidFill>
                <a:latin typeface="Courier"/>
                <a:ea typeface="Courier"/>
                <a:cs typeface="Courier"/>
                <a:sym typeface="Courier"/>
              </a:rPr>
              <a:t>"IS 455: 1989",</a:t>
            </a:r>
            <a:endParaRPr sz="800"/>
          </a:p>
          <a:p>
            <a:pPr indent="0" lvl="0" marL="0" marR="0" rtl="0" algn="just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F8FAFC"/>
                </a:solidFill>
                <a:latin typeface="Courier"/>
                <a:ea typeface="Courier"/>
                <a:cs typeface="Courier"/>
                <a:sym typeface="Courier"/>
              </a:rPr>
              <a:t>"IS 269: 1989",</a:t>
            </a:r>
            <a:endParaRPr sz="800"/>
          </a:p>
          <a:p>
            <a:pPr indent="0" lvl="0" marL="0" marR="0" rtl="0" algn="just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F8FAFC"/>
                </a:solidFill>
                <a:latin typeface="Courier"/>
                <a:ea typeface="Courier"/>
                <a:cs typeface="Courier"/>
                <a:sym typeface="Courier"/>
              </a:rPr>
              <a:t>"IS 1489 (Part 1): 1991"</a:t>
            </a:r>
            <a:endParaRPr sz="800"/>
          </a:p>
          <a:p>
            <a:pPr indent="0" lvl="0" marL="0" marR="0" rtl="0" algn="just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F8FAFC"/>
                </a:solidFill>
                <a:latin typeface="Courier"/>
                <a:ea typeface="Courier"/>
                <a:cs typeface="Courier"/>
                <a:sym typeface="Courier"/>
              </a:rPr>
              <a:t>],</a:t>
            </a:r>
            <a:endParaRPr sz="800"/>
          </a:p>
          <a:p>
            <a:pPr indent="0" lvl="0" marL="0" marR="0" rtl="0" algn="just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22D3EE"/>
                </a:solidFill>
                <a:latin typeface="Courier"/>
                <a:ea typeface="Courier"/>
                <a:cs typeface="Courier"/>
                <a:sym typeface="Courier"/>
              </a:rPr>
              <a:t>"rationale"</a:t>
            </a:r>
            <a:r>
              <a:rPr b="0" i="0" lang="en-GB" sz="700" u="none" cap="none" strike="noStrike">
                <a:solidFill>
                  <a:srgbClr val="F8FAFC"/>
                </a:solidFill>
                <a:latin typeface="Courier"/>
                <a:ea typeface="Courier"/>
                <a:cs typeface="Courier"/>
                <a:sym typeface="Courier"/>
              </a:rPr>
              <a:t>: </a:t>
            </a:r>
            <a:r>
              <a:rPr b="0" i="0" lang="en-GB" sz="700" u="none" cap="none" strike="noStrike">
                <a:solidFill>
                  <a:srgbClr val="A7F3D0"/>
                </a:solidFill>
                <a:latin typeface="Courier"/>
                <a:ea typeface="Courier"/>
                <a:cs typeface="Courier"/>
                <a:sym typeface="Courier"/>
              </a:rPr>
              <a:t>"IS 455 is the standard for Portland slag cement, covering its manufacture and physical requirements."</a:t>
            </a:r>
            <a:r>
              <a:rPr b="0" i="0" lang="en-GB" sz="700" u="none" cap="none" strike="noStrike">
                <a:solidFill>
                  <a:srgbClr val="F8FAFC"/>
                </a:solidFill>
                <a:latin typeface="Courier"/>
                <a:ea typeface="Courier"/>
                <a:cs typeface="Courier"/>
                <a:sym typeface="Courier"/>
              </a:rPr>
              <a:t>,</a:t>
            </a:r>
            <a:endParaRPr sz="800"/>
          </a:p>
          <a:p>
            <a:pPr indent="0" lvl="0" marL="0" marR="0" rtl="0" algn="just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700" u="none" cap="none" strike="noStrike">
                <a:solidFill>
                  <a:srgbClr val="22D3EE"/>
                </a:solidFill>
                <a:latin typeface="Courier"/>
                <a:ea typeface="Courier"/>
                <a:cs typeface="Courier"/>
                <a:sym typeface="Courier"/>
              </a:rPr>
              <a:t>"latency_seconds"</a:t>
            </a:r>
            <a:r>
              <a:rPr b="0" i="0" lang="en-GB" sz="700" u="none" cap="none" strike="noStrike">
                <a:solidFill>
                  <a:srgbClr val="F8FAFC"/>
                </a:solidFill>
                <a:latin typeface="Courier"/>
                <a:ea typeface="Courier"/>
                <a:cs typeface="Courier"/>
                <a:sym typeface="Courier"/>
              </a:rPr>
              <a:t>: </a:t>
            </a:r>
            <a:r>
              <a:rPr b="0" i="0" lang="en-GB" sz="700" u="none" cap="none" strike="noStrike">
                <a:solidFill>
                  <a:srgbClr val="8B5CF6"/>
                </a:solidFill>
                <a:latin typeface="Courier"/>
                <a:ea typeface="Courier"/>
                <a:cs typeface="Courier"/>
                <a:sym typeface="Courier"/>
              </a:rPr>
              <a:t>1.6</a:t>
            </a:r>
            <a:endParaRPr sz="800"/>
          </a:p>
          <a:p>
            <a:pPr indent="0" lvl="0" marL="0" marR="0" rtl="0" algn="just">
              <a:lnSpc>
                <a:spcPct val="126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00" u="none" cap="none" strike="noStrike">
                <a:solidFill>
                  <a:srgbClr val="E2E8F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800"/>
          </a:p>
        </p:txBody>
      </p:sp>
      <p:grpSp>
        <p:nvGrpSpPr>
          <p:cNvPr id="120" name="Google Shape;120;p14"/>
          <p:cNvGrpSpPr/>
          <p:nvPr/>
        </p:nvGrpSpPr>
        <p:grpSpPr>
          <a:xfrm>
            <a:off x="428625" y="3619500"/>
            <a:ext cx="8286900" cy="1143000"/>
            <a:chOff x="428625" y="3619500"/>
            <a:chExt cx="8286900" cy="1143000"/>
          </a:xfrm>
        </p:grpSpPr>
        <p:sp>
          <p:nvSpPr>
            <p:cNvPr id="121" name="Google Shape;121;p14"/>
            <p:cNvSpPr/>
            <p:nvPr/>
          </p:nvSpPr>
          <p:spPr>
            <a:xfrm>
              <a:off x="428625" y="3619500"/>
              <a:ext cx="8286900" cy="1143000"/>
            </a:xfrm>
            <a:prstGeom prst="roundRect">
              <a:avLst>
                <a:gd fmla="val 10000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619125" y="381000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714375" y="379095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Key Pipeline Advantages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619125" y="4143375"/>
              <a:ext cx="7905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7813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775"/>
                <a:buFont typeface="Helvetica Neue"/>
                <a:buChar char="●"/>
              </a:pPr>
              <a:r>
                <a:rPr b="0" lang="en-GB" sz="77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Zero-Latency Local Inference: Ensures data privacy and offline operational capability.</a:t>
              </a:r>
              <a:endParaRPr b="0" sz="775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77813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94A3B8"/>
                </a:buClr>
                <a:buSzPts val="775"/>
                <a:buFont typeface="Helvetica Neue"/>
                <a:buChar char="●"/>
              </a:pPr>
              <a:r>
                <a:rPr b="0" lang="en-GB" sz="77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Deterministic Cross-Referencing: Eliminates AI hallucinations by grounding results in official IS standards.</a:t>
              </a:r>
              <a:endParaRPr b="0" sz="775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77813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94A3B8"/>
                </a:buClr>
                <a:buSzPts val="775"/>
                <a:buFont typeface="Helvetica Neue"/>
                <a:buChar char="●"/>
              </a:pPr>
              <a:r>
                <a:rPr b="0" lang="en-GB" sz="77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Context-Aware Mapping: Bridges the semantic gap between MSME colloquialisms and technical regulatory language.</a:t>
              </a:r>
              <a:endParaRPr b="0" sz="775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5"/>
          <p:cNvGrpSpPr/>
          <p:nvPr/>
        </p:nvGrpSpPr>
        <p:grpSpPr>
          <a:xfrm>
            <a:off x="428625" y="285750"/>
            <a:ext cx="3810000" cy="666825"/>
            <a:chOff x="428625" y="285750"/>
            <a:chExt cx="3810000" cy="666825"/>
          </a:xfrm>
        </p:grpSpPr>
        <p:sp>
          <p:nvSpPr>
            <p:cNvPr id="130" name="Google Shape;130;p15"/>
            <p:cNvSpPr txBox="1"/>
            <p:nvPr/>
          </p:nvSpPr>
          <p:spPr>
            <a:xfrm>
              <a:off x="428625" y="2857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03 // ARCHITECTURE</a:t>
              </a:r>
              <a:endParaRPr b="1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428625" y="523875"/>
              <a:ext cx="381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System Architecture</a:t>
              </a:r>
              <a:endParaRPr b="1" sz="2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32" name="Google Shape;132;p15"/>
          <p:cNvGrpSpPr/>
          <p:nvPr/>
        </p:nvGrpSpPr>
        <p:grpSpPr>
          <a:xfrm>
            <a:off x="428625" y="1238250"/>
            <a:ext cx="3429000" cy="3524400"/>
            <a:chOff x="428625" y="1238250"/>
            <a:chExt cx="3429000" cy="3524400"/>
          </a:xfrm>
        </p:grpSpPr>
        <p:sp>
          <p:nvSpPr>
            <p:cNvPr id="133" name="Google Shape;133;p15"/>
            <p:cNvSpPr/>
            <p:nvPr/>
          </p:nvSpPr>
          <p:spPr>
            <a:xfrm>
              <a:off x="428625" y="1238250"/>
              <a:ext cx="3429000" cy="3524400"/>
            </a:xfrm>
            <a:prstGeom prst="roundRect">
              <a:avLst>
                <a:gd fmla="val 3333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619125" y="1428750"/>
              <a:ext cx="3048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User Query / API Input (FastAPI)</a:t>
              </a:r>
              <a:endParaRPr b="1" sz="10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22D3EE"/>
                  </a:solidFill>
                </a:rPr>
                <a:t>↓</a:t>
              </a:r>
              <a:endParaRPr sz="1400">
                <a:solidFill>
                  <a:srgbClr val="22D3EE"/>
                </a:solidFill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Dense Retrieval</a:t>
              </a:r>
              <a:br>
                <a:rPr b="1" lang="en-GB" sz="8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b="0" lang="en-GB" sz="7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FAISS BGE-M3 (Top-25)</a:t>
              </a:r>
              <a:endParaRPr b="1" sz="8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Sparse Retrieval</a:t>
              </a:r>
              <a:br>
                <a:rPr b="1" lang="en-GB" sz="8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b="0" lang="en-GB" sz="7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BM25 (Top-25)</a:t>
              </a:r>
              <a:endParaRPr b="1" sz="8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22D3EE"/>
                  </a:solidFill>
                </a:rPr>
                <a:t>↓</a:t>
              </a:r>
              <a:endParaRPr sz="1400">
                <a:solidFill>
                  <a:srgbClr val="22D3EE"/>
                </a:solidFill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RRF Fusion &amp; Feature Scoring Pipeline</a:t>
              </a:r>
              <a:endParaRPr b="1" sz="10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22D3EE"/>
                  </a:solidFill>
                </a:rPr>
                <a:t>↓</a:t>
              </a:r>
              <a:endParaRPr sz="1400">
                <a:solidFill>
                  <a:srgbClr val="22D3EE"/>
                </a:solidFill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Family Resolution &amp; Confidence Check</a:t>
              </a:r>
              <a:br>
                <a:rPr b="1" lang="en-GB" sz="10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b="0" lang="en-GB" sz="8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(Margin &gt; 10)</a:t>
              </a:r>
              <a:endParaRPr b="1" sz="10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rgbClr val="22D3EE"/>
                  </a:solidFill>
                </a:rPr>
                <a:t>↓</a:t>
              </a:r>
              <a:endParaRPr sz="1400">
                <a:solidFill>
                  <a:srgbClr val="22D3EE"/>
                </a:solidFill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1" lang="en-GB" sz="1000">
                  <a:solidFill>
                    <a:srgbClr val="22D3E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LLM Rationale Generation</a:t>
              </a:r>
              <a:br>
                <a:rPr b="1" lang="en-GB" sz="1000">
                  <a:solidFill>
                    <a:srgbClr val="22D3E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b="0" lang="en-GB" sz="8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Local Ollama (</a:t>
              </a:r>
              <a:r>
                <a:rPr lang="en-GB" sz="8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Gemma4:e2b</a:t>
              </a:r>
              <a:r>
                <a:rPr b="0" lang="en-GB" sz="8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</a:t>
              </a:r>
              <a:endParaRPr b="1" sz="1000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35" name="Google Shape;135;p15"/>
          <p:cNvGrpSpPr/>
          <p:nvPr/>
        </p:nvGrpSpPr>
        <p:grpSpPr>
          <a:xfrm>
            <a:off x="4191000" y="1238250"/>
            <a:ext cx="4524300" cy="3524100"/>
            <a:chOff x="4191000" y="1238250"/>
            <a:chExt cx="4524300" cy="3524100"/>
          </a:xfrm>
        </p:grpSpPr>
        <p:sp>
          <p:nvSpPr>
            <p:cNvPr id="136" name="Google Shape;136;p15"/>
            <p:cNvSpPr/>
            <p:nvPr/>
          </p:nvSpPr>
          <p:spPr>
            <a:xfrm>
              <a:off x="4191000" y="1238250"/>
              <a:ext cx="4524300" cy="1524000"/>
            </a:xfrm>
            <a:prstGeom prst="roundRect">
              <a:avLst>
                <a:gd fmla="val 7500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4381500" y="142875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22D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 txBox="1"/>
            <p:nvPr/>
          </p:nvSpPr>
          <p:spPr>
            <a:xfrm>
              <a:off x="4476750" y="1409700"/>
              <a:ext cx="4095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9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Core Stack</a:t>
              </a:r>
              <a:endParaRPr b="1" sz="119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87973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94A3B8"/>
                </a:buClr>
                <a:buSzPts val="935"/>
                <a:buFont typeface="Helvetica Neue"/>
                <a:buChar char="●"/>
              </a:pPr>
              <a:r>
                <a:rPr b="1" lang="en-GB" sz="93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FastAPI &amp; FAISS-CPU</a:t>
              </a:r>
              <a:r>
                <a:rPr lang="en-GB" sz="93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High-performance serving and vector indexing</a:t>
              </a:r>
              <a:endParaRPr sz="935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8797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935"/>
                <a:buFont typeface="Helvetica Neue"/>
                <a:buChar char="●"/>
              </a:pPr>
              <a:r>
                <a:rPr b="1" lang="en-GB" sz="93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BGE-M3 &amp; Gemma4:e2b</a:t>
              </a:r>
              <a:r>
                <a:rPr lang="en-GB" sz="93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State-of-the-art embedding and  consumer local reasoning models</a:t>
              </a:r>
              <a:endParaRPr sz="935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8797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935"/>
                <a:buFont typeface="Helvetica Neue"/>
                <a:buChar char="●"/>
              </a:pPr>
              <a:r>
                <a:rPr b="1" lang="en-GB" sz="93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PyPDF</a:t>
              </a:r>
              <a:r>
                <a:rPr lang="en-GB" sz="93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Reliable regulatory document parsing</a:t>
              </a:r>
              <a:endParaRPr sz="935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4191000" y="2952750"/>
              <a:ext cx="4524300" cy="1809600"/>
            </a:xfrm>
            <a:prstGeom prst="roundRect">
              <a:avLst>
                <a:gd fmla="val 6315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4381500" y="314325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 txBox="1"/>
            <p:nvPr/>
          </p:nvSpPr>
          <p:spPr>
            <a:xfrm>
              <a:off x="4476750" y="3124200"/>
              <a:ext cx="40959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95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Execution Environment</a:t>
              </a:r>
              <a:endParaRPr b="1" sz="1295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3211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94A3B8"/>
                </a:buClr>
                <a:buSzPts val="1018"/>
                <a:buFont typeface="Helvetica Neue"/>
                <a:buChar char="●"/>
              </a:pPr>
              <a:r>
                <a:rPr b="1" lang="en-GB" sz="1018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Reproducible Deployment</a:t>
              </a:r>
              <a:r>
                <a:rPr lang="en-GB" sz="1018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Fully containerized offline-ready setup</a:t>
              </a:r>
              <a:endParaRPr sz="1018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018"/>
                <a:buFont typeface="Helvetica Neue"/>
                <a:buChar char="●"/>
              </a:pPr>
              <a:r>
                <a:rPr b="1" lang="en-GB" sz="1018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Hardware Agnostic</a:t>
              </a:r>
              <a:r>
                <a:rPr lang="en-GB" sz="1018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Dynamic CUDA/CPU fallback mechanisms</a:t>
              </a:r>
              <a:endParaRPr sz="1018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018"/>
                <a:buFont typeface="Helvetica Neue"/>
                <a:buChar char="●"/>
              </a:pPr>
              <a:r>
                <a:rPr b="1" lang="en-GB" sz="1018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Compliance Validated</a:t>
              </a:r>
              <a:r>
                <a:rPr lang="en-GB" sz="1018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Strict inference.py evaluation standard compliance</a:t>
              </a:r>
              <a:endParaRPr sz="1018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6"/>
          <p:cNvGrpSpPr/>
          <p:nvPr/>
        </p:nvGrpSpPr>
        <p:grpSpPr>
          <a:xfrm>
            <a:off x="428625" y="238125"/>
            <a:ext cx="8286900" cy="952500"/>
            <a:chOff x="428625" y="238125"/>
            <a:chExt cx="8286900" cy="952500"/>
          </a:xfrm>
        </p:grpSpPr>
        <p:sp>
          <p:nvSpPr>
            <p:cNvPr id="147" name="Google Shape;147;p16"/>
            <p:cNvSpPr txBox="1"/>
            <p:nvPr/>
          </p:nvSpPr>
          <p:spPr>
            <a:xfrm>
              <a:off x="428625" y="238125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04 // SECRET SAUCE</a:t>
              </a:r>
              <a:endParaRPr b="1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428625" y="428625"/>
              <a:ext cx="828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9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Chunking &amp; Deterministic Scoring</a:t>
              </a:r>
              <a:endParaRPr b="1" sz="259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GB" sz="1018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Standard vector databases fail on strict alphanumeric codes. We engineered a custom </a:t>
              </a:r>
              <a:r>
                <a:rPr b="1" lang="en-GB" sz="1018">
                  <a:solidFill>
                    <a:srgbClr val="22D3E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Feature Scoring algorithm</a:t>
              </a:r>
              <a:r>
                <a:rPr b="0" lang="en-GB" sz="1018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that ranks RRF Fusion candidates deterministically.</a:t>
              </a:r>
              <a:endParaRPr b="0" sz="1018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428625" y="1333500"/>
            <a:ext cx="3048000" cy="3524400"/>
            <a:chOff x="428625" y="1333500"/>
            <a:chExt cx="3048000" cy="3524400"/>
          </a:xfrm>
        </p:grpSpPr>
        <p:sp>
          <p:nvSpPr>
            <p:cNvPr id="150" name="Google Shape;150;p16"/>
            <p:cNvSpPr/>
            <p:nvPr/>
          </p:nvSpPr>
          <p:spPr>
            <a:xfrm>
              <a:off x="428625" y="1333500"/>
              <a:ext cx="3048000" cy="3524400"/>
            </a:xfrm>
            <a:prstGeom prst="roundRect">
              <a:avLst>
                <a:gd fmla="val 3750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619125" y="15240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22D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762000" y="1495425"/>
              <a:ext cx="257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Algorithm Weights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619125" y="1857375"/>
              <a:ext cx="26670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IS Number Exact Match </a:t>
              </a:r>
              <a:r>
                <a:rPr b="1" lang="en-GB" sz="8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+36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Part Alignment Match (correct) </a:t>
              </a:r>
              <a:r>
                <a:rPr b="1" lang="en-GB" sz="8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+18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Product Type Classification </a:t>
              </a:r>
              <a:r>
                <a:rPr b="1" lang="en-GB" sz="8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+11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Title keyword overlap </a:t>
              </a:r>
              <a:r>
                <a:rPr b="1" lang="en-GB" sz="8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+9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Bigram overlap </a:t>
              </a:r>
              <a:r>
                <a:rPr b="1" lang="en-GB" sz="8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+6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Material overlap </a:t>
              </a:r>
              <a:r>
                <a:rPr b="1" lang="en-GB" sz="8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+5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Keyword overlap </a:t>
              </a:r>
              <a:r>
                <a:rPr b="1" lang="en-GB" sz="8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+4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Content keyword overlap </a:t>
              </a:r>
              <a:r>
                <a:rPr b="1" lang="en-GB" sz="8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+1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Mutual Exclusivity Mismatch </a:t>
              </a:r>
              <a:r>
                <a:rPr b="1" lang="en-GB" sz="800">
                  <a:solidFill>
                    <a:srgbClr val="EF4444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-24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Near-ID Penalty (736 vs 737) </a:t>
              </a:r>
              <a:r>
                <a:rPr b="1" lang="en-GB" sz="800">
                  <a:solidFill>
                    <a:srgbClr val="EF4444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-16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Part Alignment (wrong part) </a:t>
              </a:r>
              <a:r>
                <a:rPr b="1" lang="en-GB" sz="800">
                  <a:solidFill>
                    <a:srgbClr val="EF4444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-12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Part Alignment (missing) </a:t>
              </a:r>
              <a:r>
                <a:rPr b="1" lang="en-GB" sz="800">
                  <a:solidFill>
                    <a:srgbClr val="EF4444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-2 pts</a:t>
              </a:r>
              <a:endParaRPr sz="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54" name="Google Shape;154;p16"/>
          <p:cNvGrpSpPr/>
          <p:nvPr/>
        </p:nvGrpSpPr>
        <p:grpSpPr>
          <a:xfrm>
            <a:off x="3762375" y="1333500"/>
            <a:ext cx="4953000" cy="1666800"/>
            <a:chOff x="3762375" y="1333500"/>
            <a:chExt cx="4953000" cy="1666800"/>
          </a:xfrm>
        </p:grpSpPr>
        <p:sp>
          <p:nvSpPr>
            <p:cNvPr id="155" name="Google Shape;155;p16"/>
            <p:cNvSpPr/>
            <p:nvPr/>
          </p:nvSpPr>
          <p:spPr>
            <a:xfrm>
              <a:off x="3762375" y="1333500"/>
              <a:ext cx="4953000" cy="1666800"/>
            </a:xfrm>
            <a:prstGeom prst="roundRect">
              <a:avLst>
                <a:gd fmla="val 6857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3952875" y="15240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22D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4095750" y="1495425"/>
              <a:ext cx="4429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Query Signal Extraction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8" name="Google Shape;158;p16"/>
            <p:cNvSpPr txBox="1"/>
            <p:nvPr/>
          </p:nvSpPr>
          <p:spPr>
            <a:xfrm>
              <a:off x="3952875" y="1857375"/>
              <a:ext cx="457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The system parses exact signals </a:t>
              </a:r>
              <a:r>
                <a:rPr b="1" lang="en-GB" sz="11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(bigrams, material types, "part" mentions)</a:t>
              </a: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before vectorization to guide the sparse retriever.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59" name="Google Shape;159;p16"/>
          <p:cNvGrpSpPr/>
          <p:nvPr/>
        </p:nvGrpSpPr>
        <p:grpSpPr>
          <a:xfrm>
            <a:off x="3762375" y="3190875"/>
            <a:ext cx="4953000" cy="1666800"/>
            <a:chOff x="3762375" y="3190875"/>
            <a:chExt cx="4953000" cy="1666800"/>
          </a:xfrm>
        </p:grpSpPr>
        <p:sp>
          <p:nvSpPr>
            <p:cNvPr id="160" name="Google Shape;160;p16"/>
            <p:cNvSpPr/>
            <p:nvPr/>
          </p:nvSpPr>
          <p:spPr>
            <a:xfrm>
              <a:off x="3762375" y="3190875"/>
              <a:ext cx="4953000" cy="1666800"/>
            </a:xfrm>
            <a:prstGeom prst="roundRect">
              <a:avLst>
                <a:gd fmla="val 6857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3952875" y="3381375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4095750" y="3352800"/>
              <a:ext cx="4429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Confidence Fallback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3952875" y="3714750"/>
              <a:ext cx="457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If the top score margin is </a:t>
              </a:r>
              <a:r>
                <a:rPr b="1" lang="en-GB" sz="11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&lt; 10</a:t>
              </a: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the engine widens the candidate pool to </a:t>
              </a:r>
              <a:r>
                <a:rPr b="1" lang="en-GB" sz="11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30</a:t>
              </a: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preventing confident hallucination of incorrect standards.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/>
          <p:nvPr/>
        </p:nvSpPr>
        <p:spPr>
          <a:xfrm>
            <a:off x="428625" y="1333500"/>
            <a:ext cx="4048200" cy="3238500"/>
          </a:xfrm>
          <a:prstGeom prst="roundRect">
            <a:avLst>
              <a:gd fmla="val 3529" name="adj"/>
            </a:avLst>
          </a:prstGeom>
          <a:solidFill>
            <a:srgbClr val="111827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4667250" y="1333500"/>
            <a:ext cx="4048200" cy="3238500"/>
          </a:xfrm>
          <a:prstGeom prst="roundRect">
            <a:avLst>
              <a:gd fmla="val 3529" name="adj"/>
            </a:avLst>
          </a:prstGeom>
          <a:solidFill>
            <a:srgbClr val="111827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619125" y="1524000"/>
            <a:ext cx="381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28625" y="238125"/>
            <a:ext cx="1905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 // DEMO</a:t>
            </a:r>
            <a:endParaRPr b="1" sz="10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857750" y="1524000"/>
            <a:ext cx="38100" cy="2286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28625" y="428625"/>
            <a:ext cx="82869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Application Interface</a:t>
            </a:r>
            <a:endParaRPr b="1" sz="280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4" name="Google Shape;174;p17"/>
          <p:cNvGrpSpPr/>
          <p:nvPr/>
        </p:nvGrpSpPr>
        <p:grpSpPr>
          <a:xfrm>
            <a:off x="619125" y="1495425"/>
            <a:ext cx="3667275" cy="647850"/>
            <a:chOff x="619125" y="1495425"/>
            <a:chExt cx="3667275" cy="647850"/>
          </a:xfrm>
        </p:grpSpPr>
        <p:sp>
          <p:nvSpPr>
            <p:cNvPr id="175" name="Google Shape;175;p17"/>
            <p:cNvSpPr txBox="1"/>
            <p:nvPr/>
          </p:nvSpPr>
          <p:spPr>
            <a:xfrm>
              <a:off x="762000" y="1495425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App.py Interface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619125" y="1857375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Visual comparison of AI Search vs. Guided Discovery modes.</a:t>
              </a:r>
              <a:endParaRPr b="0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77" name="Google Shape;177;p17"/>
          <p:cNvGrpSpPr/>
          <p:nvPr/>
        </p:nvGrpSpPr>
        <p:grpSpPr>
          <a:xfrm>
            <a:off x="4857750" y="1495425"/>
            <a:ext cx="3667275" cy="647850"/>
            <a:chOff x="4857750" y="1495425"/>
            <a:chExt cx="3667275" cy="647850"/>
          </a:xfrm>
        </p:grpSpPr>
        <p:sp>
          <p:nvSpPr>
            <p:cNvPr id="178" name="Google Shape;178;p17"/>
            <p:cNvSpPr txBox="1"/>
            <p:nvPr/>
          </p:nvSpPr>
          <p:spPr>
            <a:xfrm>
              <a:off x="5000625" y="1495425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Inside the system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4857750" y="1857375"/>
              <a:ext cx="36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2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Detailed </a:t>
              </a:r>
              <a:r>
                <a:rPr lang="en-GB" sz="92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breakdown what happens inside the system when user interacts on AI AGENT </a:t>
              </a:r>
              <a:r>
                <a:rPr lang="en-GB" sz="92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QUERY</a:t>
              </a:r>
              <a:r>
                <a:rPr lang="en-GB" sz="925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on the web interface</a:t>
              </a:r>
              <a:endParaRPr b="0" sz="925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80" name="Google Shape;180;p17"/>
          <p:cNvPicPr preferRelativeResize="0"/>
          <p:nvPr/>
        </p:nvPicPr>
        <p:blipFill rotWithShape="1">
          <a:blip r:embed="rId3">
            <a:alphaModFix/>
          </a:blip>
          <a:srcRect b="13427" l="0" r="0" t="0"/>
          <a:stretch/>
        </p:blipFill>
        <p:spPr>
          <a:xfrm>
            <a:off x="483125" y="2143275"/>
            <a:ext cx="3939275" cy="2357124"/>
          </a:xfrm>
          <a:prstGeom prst="rect">
            <a:avLst/>
          </a:prstGeom>
          <a:solidFill>
            <a:srgbClr val="111827"/>
          </a:solidFill>
          <a:ln cap="flat" cmpd="sng" w="9525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Generate image:User Query / API Input (FastAPI)&#10;↓&#10;Dense Retrieval&#10;FAISS BGE-M3 (Top-25)&#10;Sparse Retrieval&#10;BM25 (Top-25)&#10;↓&#10;RRF Fusion &amp; Feature Scoring Pipeline&#10;↓&#10;Family Resolution &amp; Confidence Check&#10;(Margin &gt; 10)&#10;↓&#10;LLM Rationale Generation&#10;Local Ollama (Qwen3.5:4b)&#10;&#10;&#10;&#10;But in pictorial form " id="181" name="Google Shape;1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325" y="2185725"/>
            <a:ext cx="3785949" cy="235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8"/>
          <p:cNvGrpSpPr/>
          <p:nvPr/>
        </p:nvGrpSpPr>
        <p:grpSpPr>
          <a:xfrm>
            <a:off x="428625" y="1524000"/>
            <a:ext cx="8286750" cy="2667000"/>
            <a:chOff x="428625" y="1524000"/>
            <a:chExt cx="8286750" cy="2667000"/>
          </a:xfrm>
        </p:grpSpPr>
        <p:sp>
          <p:nvSpPr>
            <p:cNvPr id="187" name="Google Shape;187;p18"/>
            <p:cNvSpPr/>
            <p:nvPr/>
          </p:nvSpPr>
          <p:spPr>
            <a:xfrm>
              <a:off x="428625" y="1524000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3238500" y="1524000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6048375" y="1524000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619125" y="17145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22D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3429000" y="17145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6238875" y="17145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18"/>
          <p:cNvSpPr txBox="1"/>
          <p:nvPr/>
        </p:nvSpPr>
        <p:spPr>
          <a:xfrm>
            <a:off x="428625" y="238125"/>
            <a:ext cx="1905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 // EVALUATION</a:t>
            </a:r>
            <a:endParaRPr b="1" sz="10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428625" y="428625"/>
            <a:ext cx="8286900" cy="37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5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Crushing the Benchmarks</a:t>
            </a:r>
            <a:endParaRPr b="1" sz="2405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428625" y="857250"/>
            <a:ext cx="82869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generated deterministically against the mandatory </a:t>
            </a:r>
            <a:r>
              <a:rPr b="1" lang="en-GB" sz="1000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eval_script.py</a:t>
            </a:r>
            <a:r>
              <a:rPr b="0" lang="en-GB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suite.</a:t>
            </a:r>
            <a:endParaRPr b="0" sz="10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762000" y="1685925"/>
            <a:ext cx="2190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Hit Rate @3</a:t>
            </a:r>
            <a:endParaRPr b="1" sz="140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19125" y="2095500"/>
            <a:ext cx="2286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90%</a:t>
            </a:r>
            <a:endParaRPr b="1" sz="480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19125" y="2857500"/>
            <a:ext cx="2286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Correct standard found in top 3</a:t>
            </a:r>
            <a:endParaRPr b="0" sz="11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619125" y="3810000"/>
            <a:ext cx="9525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0B981"/>
                </a:solidFill>
                <a:highlight>
                  <a:srgbClr val="064E3B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Target: &gt;80%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3571875" y="1685925"/>
            <a:ext cx="2190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MRR @5</a:t>
            </a:r>
            <a:endParaRPr b="1" sz="140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3429000" y="2095500"/>
            <a:ext cx="2286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0.920</a:t>
            </a:r>
            <a:endParaRPr b="1" sz="480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3429000" y="2857500"/>
            <a:ext cx="2286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 Reciprocal Rank precision</a:t>
            </a:r>
            <a:endParaRPr b="0" sz="11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3429000" y="3810000"/>
            <a:ext cx="9525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0B981"/>
                </a:solidFill>
                <a:highlight>
                  <a:srgbClr val="064E3B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Target: &gt;0.70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381750" y="1685925"/>
            <a:ext cx="2190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Avg. Latency</a:t>
            </a:r>
            <a:endParaRPr b="1" sz="140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238875" y="2095500"/>
            <a:ext cx="2286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~1.1s</a:t>
            </a:r>
            <a:endParaRPr b="1" sz="480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6238875" y="2857500"/>
            <a:ext cx="2286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End-to-end processing time</a:t>
            </a:r>
            <a:br>
              <a:rPr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(On Desktop Nvidia RTX4060Ti)</a:t>
            </a:r>
            <a:endParaRPr b="0" sz="11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238875" y="3810000"/>
            <a:ext cx="9525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10B981"/>
                </a:solidFill>
                <a:highlight>
                  <a:srgbClr val="064E3B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Target: &lt;5.0s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28625" y="4272475"/>
            <a:ext cx="728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*The above results were scored on public test set. However, it scores even higher with scores of </a:t>
            </a:r>
            <a:r>
              <a:rPr b="1"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Hit Rate@3=98%,MRR@5=0.9390</a:t>
            </a:r>
            <a:r>
              <a:rPr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custom 100 </a:t>
            </a:r>
            <a:r>
              <a:rPr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</a:t>
            </a:r>
            <a:r>
              <a:rPr lang="en-GB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datasets which is mentioned in the Github repo.</a:t>
            </a:r>
            <a:endParaRPr sz="11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/>
        </p:nvSpPr>
        <p:spPr>
          <a:xfrm>
            <a:off x="428625" y="238125"/>
            <a:ext cx="19050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 // BUSINESS VALUE</a:t>
            </a:r>
            <a:endParaRPr b="1" sz="1000">
              <a:solidFill>
                <a:srgbClr val="94A3B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28625" y="428625"/>
            <a:ext cx="82869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Real-World Impact on MSMEs</a:t>
            </a:r>
            <a:endParaRPr b="1" sz="2600">
              <a:solidFill>
                <a:srgbClr val="F8FA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15" name="Google Shape;215;p19"/>
          <p:cNvGrpSpPr/>
          <p:nvPr/>
        </p:nvGrpSpPr>
        <p:grpSpPr>
          <a:xfrm>
            <a:off x="428625" y="1333500"/>
            <a:ext cx="2667000" cy="2667000"/>
            <a:chOff x="428625" y="1333500"/>
            <a:chExt cx="2667000" cy="2667000"/>
          </a:xfrm>
        </p:grpSpPr>
        <p:sp>
          <p:nvSpPr>
            <p:cNvPr id="216" name="Google Shape;216;p19"/>
            <p:cNvSpPr/>
            <p:nvPr/>
          </p:nvSpPr>
          <p:spPr>
            <a:xfrm>
              <a:off x="428625" y="1333500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619125" y="15240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22D3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762000" y="149542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Time-to-Market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619125" y="1905000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Reduces compliance discovery from weeks to exactly </a:t>
              </a:r>
              <a:r>
                <a:rPr b="1" lang="en-GB" sz="1100">
                  <a:solidFill>
                    <a:srgbClr val="22D3E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1.1 seconds</a:t>
              </a: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 b="0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Eliminating regulatory bottlenecks for rapid new product launches</a:t>
              </a:r>
              <a:endParaRPr b="0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20" name="Google Shape;220;p19"/>
          <p:cNvGrpSpPr/>
          <p:nvPr/>
        </p:nvGrpSpPr>
        <p:grpSpPr>
          <a:xfrm>
            <a:off x="3238500" y="1333500"/>
            <a:ext cx="2667000" cy="2667000"/>
            <a:chOff x="3238500" y="1333500"/>
            <a:chExt cx="2667000" cy="2667000"/>
          </a:xfrm>
        </p:grpSpPr>
        <p:sp>
          <p:nvSpPr>
            <p:cNvPr id="221" name="Google Shape;221;p19"/>
            <p:cNvSpPr/>
            <p:nvPr/>
          </p:nvSpPr>
          <p:spPr>
            <a:xfrm>
              <a:off x="3238500" y="1333500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3429000" y="15240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3571875" y="149542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Zero-Cost Intelligence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3429000" y="1905000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Bypasses the need for expensive third-party compliance consultants.</a:t>
              </a:r>
              <a:endParaRPr b="0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Keeps </a:t>
              </a:r>
              <a:r>
                <a:rPr b="1" lang="en-GB" sz="1100">
                  <a:solidFill>
                    <a:srgbClr val="8B5CF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vital capital</a:t>
              </a: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inside the small enterprise where it belongs.</a:t>
              </a:r>
              <a:endParaRPr b="0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Runs locally on consumer grade hardware 2B parameter model, so efficient, fast and </a:t>
              </a: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accessible.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25" name="Google Shape;225;p19"/>
          <p:cNvGrpSpPr/>
          <p:nvPr/>
        </p:nvGrpSpPr>
        <p:grpSpPr>
          <a:xfrm>
            <a:off x="6048375" y="1333500"/>
            <a:ext cx="2667000" cy="2667000"/>
            <a:chOff x="6048375" y="1333500"/>
            <a:chExt cx="2667000" cy="2667000"/>
          </a:xfrm>
        </p:grpSpPr>
        <p:sp>
          <p:nvSpPr>
            <p:cNvPr id="226" name="Google Shape;226;p19"/>
            <p:cNvSpPr/>
            <p:nvPr/>
          </p:nvSpPr>
          <p:spPr>
            <a:xfrm>
              <a:off x="6048375" y="1333500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111827"/>
            </a:solidFill>
            <a:ln cap="flat" cmpd="sng" w="9525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6238875" y="1524000"/>
              <a:ext cx="38100" cy="2286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 txBox="1"/>
            <p:nvPr/>
          </p:nvSpPr>
          <p:spPr>
            <a:xfrm>
              <a:off x="6381750" y="1495425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F8FAF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Data Privacy</a:t>
              </a:r>
              <a:endParaRPr b="1" sz="14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6238875" y="1905000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Offline-first architecture utilizing </a:t>
              </a:r>
              <a:r>
                <a:rPr b="1" lang="en-GB" sz="1100">
                  <a:solidFill>
                    <a:srgbClr val="10B98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LM Studio</a:t>
              </a: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(Local FAISS + Local </a:t>
              </a: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Gemma4:e2b</a:t>
              </a: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). </a:t>
              </a:r>
              <a:endParaRPr b="0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Ensures proprietary MSE product details </a:t>
              </a:r>
              <a:r>
                <a:rPr b="0" lang="en-GB" sz="1100" u="sng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never</a:t>
              </a:r>
              <a:r>
                <a:rPr b="0"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leave their servers.</a:t>
              </a:r>
              <a:endParaRPr b="0"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4A3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All components bearing Apache2.0 License.</a:t>
              </a:r>
              <a:endParaRPr sz="1100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-35748" y="-35720"/>
            <a:ext cx="9222643" cy="3714748"/>
          </a:xfrm>
          <a:custGeom>
            <a:rect b="b" l="l" r="r" t="t"/>
            <a:pathLst>
              <a:path extrusionOk="0" h="6603997" w="16383000">
                <a:moveTo>
                  <a:pt x="0" y="0"/>
                </a:moveTo>
                <a:lnTo>
                  <a:pt x="16383000" y="0"/>
                </a:lnTo>
                <a:lnTo>
                  <a:pt x="16383000" y="6603997"/>
                </a:lnTo>
                <a:lnTo>
                  <a:pt x="0" y="6603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20"/>
          <p:cNvSpPr txBox="1"/>
          <p:nvPr/>
        </p:nvSpPr>
        <p:spPr>
          <a:xfrm>
            <a:off x="428960" y="144634"/>
            <a:ext cx="615172" cy="138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 // Conclusion</a:t>
            </a:r>
            <a:endParaRPr sz="800"/>
          </a:p>
        </p:txBody>
      </p:sp>
      <p:sp>
        <p:nvSpPr>
          <p:cNvPr id="236" name="Google Shape;236;p20"/>
          <p:cNvSpPr txBox="1"/>
          <p:nvPr/>
        </p:nvSpPr>
        <p:spPr>
          <a:xfrm>
            <a:off x="428960" y="547403"/>
            <a:ext cx="1418475" cy="34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Details</a:t>
            </a:r>
            <a:endParaRPr sz="800"/>
          </a:p>
        </p:txBody>
      </p:sp>
      <p:sp>
        <p:nvSpPr>
          <p:cNvPr id="237" name="Google Shape;237;p20"/>
          <p:cNvSpPr txBox="1"/>
          <p:nvPr/>
        </p:nvSpPr>
        <p:spPr>
          <a:xfrm>
            <a:off x="4166511" y="1068895"/>
            <a:ext cx="1554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Aditya</a:t>
            </a:r>
            <a:r>
              <a:rPr b="1" lang="en-GB" sz="1600">
                <a:solidFill>
                  <a:srgbClr val="F8FA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</a:t>
            </a:r>
            <a:endParaRPr sz="800"/>
          </a:p>
        </p:txBody>
      </p:sp>
      <p:sp>
        <p:nvSpPr>
          <p:cNvPr id="238" name="Google Shape;238;p20"/>
          <p:cNvSpPr txBox="1"/>
          <p:nvPr/>
        </p:nvSpPr>
        <p:spPr>
          <a:xfrm>
            <a:off x="4617365" y="1394971"/>
            <a:ext cx="28381" cy="170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800"/>
          </a:p>
        </p:txBody>
      </p:sp>
      <p:sp>
        <p:nvSpPr>
          <p:cNvPr id="239" name="Google Shape;239;p20"/>
          <p:cNvSpPr txBox="1"/>
          <p:nvPr/>
        </p:nvSpPr>
        <p:spPr>
          <a:xfrm>
            <a:off x="4049850" y="1394975"/>
            <a:ext cx="1449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/ </a:t>
            </a:r>
            <a:r>
              <a:rPr lang="en-GB" sz="800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 Developer</a:t>
            </a:r>
            <a:endParaRPr sz="800"/>
          </a:p>
        </p:txBody>
      </p:sp>
      <p:sp>
        <p:nvSpPr>
          <p:cNvPr id="240" name="Google Shape;240;p20"/>
          <p:cNvSpPr txBox="1"/>
          <p:nvPr/>
        </p:nvSpPr>
        <p:spPr>
          <a:xfrm>
            <a:off x="4382541" y="2626196"/>
            <a:ext cx="393785" cy="120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00" u="none" cap="none" strike="noStrike">
                <a:solidFill>
                  <a:srgbClr val="94A3B8"/>
                </a:solidFill>
                <a:latin typeface="Courier"/>
                <a:ea typeface="Courier"/>
                <a:cs typeface="Courier"/>
                <a:sym typeface="Courier"/>
              </a:rPr>
              <a:t>REPOSITORY</a:t>
            </a:r>
            <a:endParaRPr sz="800"/>
          </a:p>
        </p:txBody>
      </p:sp>
      <p:sp>
        <p:nvSpPr>
          <p:cNvPr id="241" name="Google Shape;241;p20"/>
          <p:cNvSpPr txBox="1"/>
          <p:nvPr/>
        </p:nvSpPr>
        <p:spPr>
          <a:xfrm>
            <a:off x="3474390" y="2801440"/>
            <a:ext cx="2246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sng" cap="none" strike="noStrike">
                <a:solidFill>
                  <a:srgbClr val="22D3EE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github.com/AdityaProCoder/bis_rag</a:t>
            </a:r>
            <a:endParaRPr sz="800">
              <a:solidFill>
                <a:srgbClr val="22D3EE"/>
              </a:solidFill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2525980" y="3623473"/>
            <a:ext cx="4181176" cy="11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 thanks to the hackathon organizers for providing the BIS dataset and a rigorous evaluation framework.</a:t>
            </a:r>
            <a:endParaRPr sz="800"/>
          </a:p>
        </p:txBody>
      </p:sp>
      <p:sp>
        <p:nvSpPr>
          <p:cNvPr id="243" name="Google Shape;243;p20"/>
          <p:cNvSpPr txBox="1"/>
          <p:nvPr/>
        </p:nvSpPr>
        <p:spPr>
          <a:xfrm>
            <a:off x="3686971" y="3838031"/>
            <a:ext cx="1812753" cy="14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600" u="none" cap="none" strike="noStrike">
                <a:solidFill>
                  <a:srgbClr val="94A3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Built entirely within the hackathon timeframe.</a:t>
            </a:r>
            <a:endParaRPr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