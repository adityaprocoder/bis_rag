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6243300" cy="9144000"/>
  <p:notesSz cx="6858000" cy="9144000"/>
  <p:embeddedFontLst>
    <p:embeddedFont>
      <p:font typeface="Helvetica Bold" charset="1" panose="020B0704020202030204"/>
      <p:regular r:id="rId14"/>
    </p:embeddedFont>
    <p:embeddedFont>
      <p:font typeface="Helvetica" charset="1" panose="020B0504020202020204"/>
      <p:regular r:id="rId15"/>
    </p:embeddedFont>
    <p:embeddedFont>
      <p:font typeface="IBM Plex Sans" charset="1" panose="020B0503050203000203"/>
      <p:regular r:id="rId16"/>
    </p:embeddedFont>
    <p:embeddedFont>
      <p:font typeface="Courier New OS" charset="1" panose="02070309020205020404"/>
      <p:regular r:id="rId17"/>
    </p:embeddedFont>
    <p:embeddedFont>
      <p:font typeface="Montserrat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5467350" cy="5715000"/>
          </a:xfrm>
          <a:custGeom>
            <a:avLst/>
            <a:gdLst/>
            <a:ahLst/>
            <a:cxnLst/>
            <a:rect r="r" b="b" t="t" l="l"/>
            <a:pathLst>
              <a:path h="5715000" w="5467350">
                <a:moveTo>
                  <a:pt x="0" y="0"/>
                </a:moveTo>
                <a:lnTo>
                  <a:pt x="5467350" y="0"/>
                </a:lnTo>
                <a:lnTo>
                  <a:pt x="54673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45153" y="3232147"/>
            <a:ext cx="4711703" cy="2171700"/>
          </a:xfrm>
          <a:custGeom>
            <a:avLst/>
            <a:gdLst/>
            <a:ahLst/>
            <a:cxnLst/>
            <a:rect r="r" b="b" t="t" l="l"/>
            <a:pathLst>
              <a:path h="2171700" w="4711703">
                <a:moveTo>
                  <a:pt x="0" y="0"/>
                </a:moveTo>
                <a:lnTo>
                  <a:pt x="4711703" y="0"/>
                </a:lnTo>
                <a:lnTo>
                  <a:pt x="4711703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97" y="-63503"/>
            <a:ext cx="15621000" cy="5467350"/>
          </a:xfrm>
          <a:custGeom>
            <a:avLst/>
            <a:gdLst/>
            <a:ahLst/>
            <a:cxnLst/>
            <a:rect r="r" b="b" t="t" l="l"/>
            <a:pathLst>
              <a:path h="5467350" w="15621000">
                <a:moveTo>
                  <a:pt x="0" y="0"/>
                </a:moveTo>
                <a:lnTo>
                  <a:pt x="15621000" y="0"/>
                </a:lnTo>
                <a:lnTo>
                  <a:pt x="15621000" y="5467350"/>
                </a:lnTo>
                <a:lnTo>
                  <a:pt x="0" y="5467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2000" y="257127"/>
            <a:ext cx="1179995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// 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973160"/>
            <a:ext cx="784074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The </a:t>
            </a:r>
            <a:r>
              <a:rPr lang="en-US" b="true" sz="2799">
                <a:solidFill>
                  <a:srgbClr val="22D3E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Semantic Gap</a:t>
            </a: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in Regulatory Compliance.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000" y="1942757"/>
            <a:ext cx="10374335" cy="7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The Semantic Gap in Regulatory Compliance </a:t>
            </a: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Indian MSEs struggle to map colloquial product descriptions to strict alphanumeric BIS standards. This semantic gap turns a simple search query into a weeks-long manual consulting process, draining capital and delaying go-to-market strategies.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466328"/>
            <a:ext cx="180795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spc="550">
                <a:solidFill>
                  <a:srgbClr val="22D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■</a:t>
            </a:r>
          </a:p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Unstructured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3600" y="3466328"/>
            <a:ext cx="153147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spc="550">
                <a:solidFill>
                  <a:srgbClr val="8B5CF6"/>
                </a:solidFill>
                <a:latin typeface="IBM Plex Sans"/>
                <a:ea typeface="IBM Plex Sans"/>
                <a:cs typeface="IBM Plex Sans"/>
                <a:sym typeface="IBM Plex Sans"/>
              </a:rPr>
              <a:t>■</a:t>
            </a:r>
          </a:p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High Ambiguity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96600" y="3466328"/>
            <a:ext cx="191201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spc="550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■</a:t>
            </a:r>
          </a:p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Hallucination Risks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4609262"/>
            <a:ext cx="4193124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5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Regulatory texts like SP 21 are dense, tabular, and not searchable by natural intent.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3600" y="4609262"/>
            <a:ext cx="3782711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5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Standard keyword searches fail to understand the difference between material types and use-cases.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96600" y="4609262"/>
            <a:ext cx="3842518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5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Off-the-shelf LLMs confidently invent fake "IS" codes, making standard GenAI useless for compliance.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7499347" cy="5715000"/>
          </a:xfrm>
          <a:custGeom>
            <a:avLst/>
            <a:gdLst/>
            <a:ahLst/>
            <a:cxnLst/>
            <a:rect r="r" b="b" t="t" l="l"/>
            <a:pathLst>
              <a:path h="5715000" w="7499347">
                <a:moveTo>
                  <a:pt x="0" y="0"/>
                </a:moveTo>
                <a:lnTo>
                  <a:pt x="7499347" y="0"/>
                </a:lnTo>
                <a:lnTo>
                  <a:pt x="7499347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497" y="-63503"/>
            <a:ext cx="15621000" cy="6102353"/>
          </a:xfrm>
          <a:custGeom>
            <a:avLst/>
            <a:gdLst/>
            <a:ahLst/>
            <a:cxnLst/>
            <a:rect r="r" b="b" t="t" l="l"/>
            <a:pathLst>
              <a:path h="6102353" w="15621000">
                <a:moveTo>
                  <a:pt x="0" y="0"/>
                </a:moveTo>
                <a:lnTo>
                  <a:pt x="15621000" y="0"/>
                </a:lnTo>
                <a:lnTo>
                  <a:pt x="15621000" y="6102353"/>
                </a:lnTo>
                <a:lnTo>
                  <a:pt x="0" y="610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00" y="257127"/>
            <a:ext cx="1179852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// The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973160"/>
            <a:ext cx="5925988" cy="127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Solution Overview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 Production-Ready </a:t>
            </a:r>
            <a:r>
              <a:rPr lang="en-US" b="true" sz="2400">
                <a:solidFill>
                  <a:srgbClr val="22D3E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Discovery Pipeline.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0622" y="2314232"/>
            <a:ext cx="41415" cy="25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000" y="2314232"/>
            <a:ext cx="606089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An interactive dashboard powered by a deterministic, offline-capable RAG engine that maps natural-language queries to approved IS codes.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5063652"/>
            <a:ext cx="5464369" cy="60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8"/>
              </a:lnSpc>
            </a:pPr>
            <a:r>
              <a:rPr lang="en-US" b="true" sz="1400">
                <a:solidFill>
                  <a:srgbClr val="8B5CF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Mode 2: Guided Discovery</a:t>
            </a:r>
          </a:p>
          <a:p>
            <a:pPr algn="l">
              <a:lnSpc>
                <a:spcPts val="1515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Click-through structured workflow (Category - Keyword - Standard) for rapid browsing without typing.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3657124"/>
            <a:ext cx="5539807" cy="64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b="true" sz="1599">
                <a:solidFill>
                  <a:srgbClr val="22D3E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Mode 1: AI Agent Search</a:t>
            </a:r>
          </a:p>
          <a:p>
            <a:pPr algn="l">
              <a:lnSpc>
                <a:spcPts val="1515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Direct natural-language processing with real-time AI rationale generation via localized Ollama models.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0" y="2357390"/>
            <a:ext cx="1958654" cy="21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94A3B8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// JSON Output Specification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0" y="3004299"/>
            <a:ext cx="6719249" cy="187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E2E8F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{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22D3EE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"retrieved"</a:t>
            </a: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: [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"IS 455: 1989",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"IS 269: 1989",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"IS 1489 (Part 1): 1991"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],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22D3EE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"rationale"</a:t>
            </a: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: </a:t>
            </a:r>
            <a:r>
              <a:rPr lang="en-US" sz="1200">
                <a:solidFill>
                  <a:srgbClr val="A7F3D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"IS 455 is the standard for Portland slag cement, covering its manufacture and physical requirements."</a:t>
            </a: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</a:p>
          <a:p>
            <a:pPr algn="just">
              <a:lnSpc>
                <a:spcPts val="1515"/>
              </a:lnSpc>
            </a:pPr>
            <a:r>
              <a:rPr lang="en-US" sz="1200">
                <a:solidFill>
                  <a:srgbClr val="22D3EE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"latency_seconds"</a:t>
            </a:r>
            <a:r>
              <a:rPr lang="en-US" sz="1200">
                <a:solidFill>
                  <a:srgbClr val="F8FAFC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: </a:t>
            </a:r>
            <a:r>
              <a:rPr lang="en-US" sz="1200">
                <a:solidFill>
                  <a:srgbClr val="8B5CF6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1.6</a:t>
            </a:r>
          </a:p>
          <a:p>
            <a:pPr algn="just">
              <a:lnSpc>
                <a:spcPts val="1199"/>
              </a:lnSpc>
            </a:pPr>
            <a:r>
              <a:rPr lang="en-US" sz="950">
                <a:solidFill>
                  <a:srgbClr val="E2E8F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7753350" cy="6254753"/>
          </a:xfrm>
          <a:custGeom>
            <a:avLst/>
            <a:gdLst/>
            <a:ahLst/>
            <a:cxnLst/>
            <a:rect r="r" b="b" t="t" l="l"/>
            <a:pathLst>
              <a:path h="6254753" w="7753350">
                <a:moveTo>
                  <a:pt x="0" y="0"/>
                </a:moveTo>
                <a:lnTo>
                  <a:pt x="7753350" y="0"/>
                </a:lnTo>
                <a:lnTo>
                  <a:pt x="7753350" y="6254753"/>
                </a:lnTo>
                <a:lnTo>
                  <a:pt x="0" y="625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4153" y="7169153"/>
            <a:ext cx="6235703" cy="825503"/>
          </a:xfrm>
          <a:custGeom>
            <a:avLst/>
            <a:gdLst/>
            <a:ahLst/>
            <a:cxnLst/>
            <a:rect r="r" b="b" t="t" l="l"/>
            <a:pathLst>
              <a:path h="825503" w="6235703">
                <a:moveTo>
                  <a:pt x="0" y="0"/>
                </a:moveTo>
                <a:lnTo>
                  <a:pt x="6235703" y="0"/>
                </a:lnTo>
                <a:lnTo>
                  <a:pt x="6235703" y="825503"/>
                </a:lnTo>
                <a:lnTo>
                  <a:pt x="0" y="82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97" y="-63503"/>
            <a:ext cx="15621000" cy="6165847"/>
          </a:xfrm>
          <a:custGeom>
            <a:avLst/>
            <a:gdLst/>
            <a:ahLst/>
            <a:cxnLst/>
            <a:rect r="r" b="b" t="t" l="l"/>
            <a:pathLst>
              <a:path h="6165847" w="15621000">
                <a:moveTo>
                  <a:pt x="0" y="0"/>
                </a:moveTo>
                <a:lnTo>
                  <a:pt x="15621000" y="0"/>
                </a:lnTo>
                <a:lnTo>
                  <a:pt x="15621000" y="6165847"/>
                </a:lnTo>
                <a:lnTo>
                  <a:pt x="0" y="6165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2000" y="257127"/>
            <a:ext cx="1156192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//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973160"/>
            <a:ext cx="3527374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77143" y="4461881"/>
            <a:ext cx="1589724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Sparse Retrieval BM25 (Top-25)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95575" y="3402282"/>
            <a:ext cx="2355603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Dense Retrieval</a:t>
            </a:r>
          </a:p>
          <a:p>
            <a:pPr algn="ctr">
              <a:lnSpc>
                <a:spcPts val="1515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FAISS BGE-M3 (Top-25)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79" y="7367630"/>
            <a:ext cx="2034594" cy="3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LLM Rationale Generation Local Ollama (Qwen3.5:4b)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3116" y="2564311"/>
            <a:ext cx="188052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User Query / API Input (FastAPI)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0358" y="5564686"/>
            <a:ext cx="22908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RRF Fusion &amp; Feature Scoring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59313" y="6556334"/>
            <a:ext cx="308752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Family Resolution &amp; Confidence Check (Margin &gt; 10)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03077" y="3048181"/>
            <a:ext cx="140599" cy="4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79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03077" y="3962581"/>
            <a:ext cx="140599" cy="4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79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03077" y="5029381"/>
            <a:ext cx="140599" cy="4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79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03077" y="6096181"/>
            <a:ext cx="140599" cy="4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79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03077" y="7010581"/>
            <a:ext cx="140599" cy="4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79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18597" y="4156167"/>
            <a:ext cx="1663856" cy="25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b="true" sz="115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Execution Environment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18597" y="4546254"/>
            <a:ext cx="2916107" cy="11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59" indent="-151129" lvl="1">
              <a:lnSpc>
                <a:spcPts val="1825"/>
              </a:lnSpc>
              <a:buFont typeface="Arial"/>
              <a:buChar char="•"/>
            </a:pPr>
            <a:r>
              <a:rPr lang="en-US" sz="13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Fully reproducible offline deployment</a:t>
            </a:r>
          </a:p>
          <a:p>
            <a:pPr algn="l" marL="302259" indent="-151129" lvl="1">
              <a:lnSpc>
                <a:spcPts val="1825"/>
              </a:lnSpc>
              <a:buFont typeface="Arial"/>
              <a:buChar char="•"/>
            </a:pPr>
            <a:r>
              <a:rPr lang="en-US" sz="13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Dynamic CUDA/CPU fallback mechanisms • Strict inference.py evaluation compliance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18597" y="2441667"/>
            <a:ext cx="778221" cy="25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b="true" sz="115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Core Stack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18597" y="2822229"/>
            <a:ext cx="3503505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latin typeface="Helvetica"/>
                <a:ea typeface="Helvetica"/>
                <a:cs typeface="Helvetica"/>
                <a:sym typeface="Helvetica"/>
              </a:rPr>
              <a:t>FastAPI • FAISS-CPU 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latin typeface="Helvetica"/>
                <a:ea typeface="Helvetica"/>
                <a:cs typeface="Helvetica"/>
                <a:sym typeface="Helvetica"/>
              </a:rPr>
              <a:t> BGE-M3 • Qwen3.5 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latin typeface="Helvetica"/>
                <a:ea typeface="Helvetica"/>
                <a:cs typeface="Helvetica"/>
                <a:sym typeface="Helvetica"/>
              </a:rPr>
              <a:t>• PyPDF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7753350" cy="5715000"/>
          </a:xfrm>
          <a:custGeom>
            <a:avLst/>
            <a:gdLst/>
            <a:ahLst/>
            <a:cxnLst/>
            <a:rect r="r" b="b" t="t" l="l"/>
            <a:pathLst>
              <a:path h="5715000" w="7753350">
                <a:moveTo>
                  <a:pt x="0" y="0"/>
                </a:moveTo>
                <a:lnTo>
                  <a:pt x="7753350" y="0"/>
                </a:lnTo>
                <a:lnTo>
                  <a:pt x="77533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497" y="-63503"/>
            <a:ext cx="15621000" cy="6102353"/>
          </a:xfrm>
          <a:custGeom>
            <a:avLst/>
            <a:gdLst/>
            <a:ahLst/>
            <a:cxnLst/>
            <a:rect r="r" b="b" t="t" l="l"/>
            <a:pathLst>
              <a:path h="6102353" w="15621000">
                <a:moveTo>
                  <a:pt x="0" y="0"/>
                </a:moveTo>
                <a:lnTo>
                  <a:pt x="15621000" y="0"/>
                </a:lnTo>
                <a:lnTo>
                  <a:pt x="15621000" y="6102353"/>
                </a:lnTo>
                <a:lnTo>
                  <a:pt x="0" y="610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00" y="257127"/>
            <a:ext cx="1211913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// Secret Sauce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1001735"/>
            <a:ext cx="6863839" cy="124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Chunking &amp; Deterministic Scoring</a:t>
            </a:r>
          </a:p>
          <a:p>
            <a:pPr algn="l">
              <a:lnSpc>
                <a:spcPts val="2086"/>
              </a:lnSpc>
            </a:pP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Standard vector databases fail on strict alphanumeric codes. We engineered a custom </a:t>
            </a:r>
            <a:r>
              <a:rPr lang="en-US" b="true" sz="1599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Feature Scoring algorithm</a:t>
            </a: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that ranks RRF Fusion candidates deterministically.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83603" y="4756242"/>
            <a:ext cx="215345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Confidence Fallback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3603" y="5155854"/>
            <a:ext cx="6305950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4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If the top score margin is &lt; 10, the engine widens the candidate pool to 30, preventing confident hallucination of incorrect standards.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83603" y="2987764"/>
            <a:ext cx="2153455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Query Signal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3603" y="3377851"/>
            <a:ext cx="6845065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4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The system parses exact signals (bigrams, material types, "part" mentions) before vectorization to guide the sparse retriever.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2814418"/>
            <a:ext cx="1842373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Algorithm Weights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1771" y="3129401"/>
            <a:ext cx="38891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3561197"/>
            <a:ext cx="1504521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-&gt; Part Alignment Match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003" y="3129401"/>
            <a:ext cx="1644425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-&gt;ISNumberExactMatch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6003" y="3992994"/>
            <a:ext cx="1862109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-&gt; Product Type Classification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3" y="4856597"/>
            <a:ext cx="1916249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-&gt; Mutual Exclusivity Mismatch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003" y="4424801"/>
            <a:ext cx="2289934" cy="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8FAFC"/>
                </a:solidFill>
                <a:latin typeface="Helvetica"/>
                <a:ea typeface="Helvetica"/>
                <a:cs typeface="Helvetica"/>
                <a:sym typeface="Helvetica"/>
              </a:rPr>
              <a:t>-&gt; Near-ID Penalty (e.g., 736 vs 737)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86500" y="4488371"/>
            <a:ext cx="336604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EF4444"/>
                </a:solidFill>
                <a:latin typeface="Helvetica"/>
                <a:ea typeface="Helvetica"/>
                <a:cs typeface="Helvetica"/>
                <a:sym typeface="Helvetica"/>
              </a:rPr>
              <a:t>-16 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6500" y="4920167"/>
            <a:ext cx="336604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EF4444"/>
                </a:solidFill>
                <a:latin typeface="Helvetica"/>
                <a:ea typeface="Helvetica"/>
                <a:cs typeface="Helvetica"/>
                <a:sym typeface="Helvetica"/>
              </a:rPr>
              <a:t>-24 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6500" y="3192971"/>
            <a:ext cx="364236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+36 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86500" y="3624767"/>
            <a:ext cx="364236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+18 pts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86500" y="4056564"/>
            <a:ext cx="364236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+11 pts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8007353" cy="6229350"/>
          </a:xfrm>
          <a:custGeom>
            <a:avLst/>
            <a:gdLst/>
            <a:ahLst/>
            <a:cxnLst/>
            <a:rect r="r" b="b" t="t" l="l"/>
            <a:pathLst>
              <a:path h="6229350" w="8007353">
                <a:moveTo>
                  <a:pt x="0" y="0"/>
                </a:moveTo>
                <a:lnTo>
                  <a:pt x="8007353" y="0"/>
                </a:lnTo>
                <a:lnTo>
                  <a:pt x="8007353" y="6229350"/>
                </a:lnTo>
                <a:lnTo>
                  <a:pt x="0" y="6229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497" y="-63503"/>
            <a:ext cx="15621000" cy="7118347"/>
          </a:xfrm>
          <a:custGeom>
            <a:avLst/>
            <a:gdLst/>
            <a:ahLst/>
            <a:cxnLst/>
            <a:rect r="r" b="b" t="t" l="l"/>
            <a:pathLst>
              <a:path h="7118347" w="15621000">
                <a:moveTo>
                  <a:pt x="0" y="0"/>
                </a:moveTo>
                <a:lnTo>
                  <a:pt x="15621000" y="0"/>
                </a:lnTo>
                <a:lnTo>
                  <a:pt x="15621000" y="7118347"/>
                </a:lnTo>
                <a:lnTo>
                  <a:pt x="0" y="7118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00" y="257127"/>
            <a:ext cx="712756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05 //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973160"/>
            <a:ext cx="4414209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Live Application Interface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3221" y="4389225"/>
            <a:ext cx="3028960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D3E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[ Insert App.py UI Screenshot 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7796" y="4733087"/>
            <a:ext cx="34214" cy="2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0080" y="4389225"/>
            <a:ext cx="2994546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8B5CF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[ Insert Rationale Screenshot 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70685" y="4733087"/>
            <a:ext cx="34214" cy="2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5109" y="4733087"/>
            <a:ext cx="2209105" cy="2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Showing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AISearch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vsGuided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Discovery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7989" y="4733087"/>
            <a:ext cx="2305212" cy="2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Showing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generated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JSON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rationale</a:t>
            </a:r>
            <a:r>
              <a:rPr lang="en-US" sz="9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9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2362" y="3591744"/>
            <a:ext cx="256308" cy="5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650">
                <a:solidFill>
                  <a:srgbClr val="22D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2362" y="3591744"/>
            <a:ext cx="256308" cy="5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650">
                <a:solidFill>
                  <a:srgbClr val="8B5CF6"/>
                </a:solidFill>
                <a:latin typeface="IBM Plex Sans"/>
                <a:ea typeface="IBM Plex Sans"/>
                <a:cs typeface="IBM Plex Sans"/>
                <a:sym typeface="IBM Plex Sans"/>
              </a:rPr>
              <a:t>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25503"/>
            <a:ext cx="5552018" cy="5715000"/>
          </a:xfrm>
          <a:custGeom>
            <a:avLst/>
            <a:gdLst/>
            <a:ahLst/>
            <a:cxnLst/>
            <a:rect r="r" b="b" t="t" l="l"/>
            <a:pathLst>
              <a:path h="5715000" w="5552018">
                <a:moveTo>
                  <a:pt x="0" y="0"/>
                </a:moveTo>
                <a:lnTo>
                  <a:pt x="5552018" y="0"/>
                </a:lnTo>
                <a:lnTo>
                  <a:pt x="5552018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9821" y="2470147"/>
            <a:ext cx="4796371" cy="3949703"/>
          </a:xfrm>
          <a:custGeom>
            <a:avLst/>
            <a:gdLst/>
            <a:ahLst/>
            <a:cxnLst/>
            <a:rect r="r" b="b" t="t" l="l"/>
            <a:pathLst>
              <a:path h="3949703" w="4796371">
                <a:moveTo>
                  <a:pt x="0" y="0"/>
                </a:moveTo>
                <a:lnTo>
                  <a:pt x="4796371" y="0"/>
                </a:lnTo>
                <a:lnTo>
                  <a:pt x="4796371" y="3949703"/>
                </a:lnTo>
                <a:lnTo>
                  <a:pt x="0" y="3949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97" y="-63503"/>
            <a:ext cx="15621000" cy="6483353"/>
          </a:xfrm>
          <a:custGeom>
            <a:avLst/>
            <a:gdLst/>
            <a:ahLst/>
            <a:cxnLst/>
            <a:rect r="r" b="b" t="t" l="l"/>
            <a:pathLst>
              <a:path h="6483353" w="15621000">
                <a:moveTo>
                  <a:pt x="0" y="0"/>
                </a:moveTo>
                <a:lnTo>
                  <a:pt x="15621000" y="0"/>
                </a:lnTo>
                <a:lnTo>
                  <a:pt x="15621000" y="6483353"/>
                </a:lnTo>
                <a:lnTo>
                  <a:pt x="0" y="648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2000" y="257127"/>
            <a:ext cx="1037501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06 //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973160"/>
            <a:ext cx="4514679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Crushing the Benchmarks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5538" y="4543558"/>
            <a:ext cx="2539245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Correct standard found in top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7479" y="4543558"/>
            <a:ext cx="2735412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Mean Reciprocal Rank precision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50732" y="1869729"/>
            <a:ext cx="5257638" cy="25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Results generated deterministically against the mandatory </a:t>
            </a:r>
            <a:r>
              <a:rPr lang="en-US" b="true" sz="1150">
                <a:solidFill>
                  <a:srgbClr val="22D3E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eval_script.py</a:t>
            </a:r>
            <a:r>
              <a:rPr lang="en-US" sz="11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 suite.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3622" y="4533900"/>
            <a:ext cx="234938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End-to-end processing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22696" y="2941425"/>
            <a:ext cx="1157983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Hit Rate @3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2859" y="2941425"/>
            <a:ext cx="846877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MRR @5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33309" y="2941425"/>
            <a:ext cx="1290009" cy="3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Avg. Latency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8684" y="3717507"/>
            <a:ext cx="881310" cy="7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4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3129" y="5313864"/>
            <a:ext cx="664064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Target: &gt;80%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70797" y="3717507"/>
            <a:ext cx="1101966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4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0.920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70797" y="5313864"/>
            <a:ext cx="658006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Target: &gt;0.70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26373" y="3717507"/>
            <a:ext cx="1114301" cy="7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4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~1.6s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08474" y="5313864"/>
            <a:ext cx="651843" cy="18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0B981"/>
                </a:solidFill>
                <a:latin typeface="Helvetica"/>
                <a:ea typeface="Helvetica"/>
                <a:cs typeface="Helvetica"/>
                <a:sym typeface="Helvetica"/>
              </a:rPr>
              <a:t>Target: &lt;5.0s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88997"/>
            <a:ext cx="5079997" cy="5588003"/>
          </a:xfrm>
          <a:custGeom>
            <a:avLst/>
            <a:gdLst/>
            <a:ahLst/>
            <a:cxnLst/>
            <a:rect r="r" b="b" t="t" l="l"/>
            <a:pathLst>
              <a:path h="5588003" w="5079997">
                <a:moveTo>
                  <a:pt x="0" y="0"/>
                </a:moveTo>
                <a:lnTo>
                  <a:pt x="5079997" y="0"/>
                </a:lnTo>
                <a:lnTo>
                  <a:pt x="5079997" y="5588003"/>
                </a:lnTo>
                <a:lnTo>
                  <a:pt x="0" y="5588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497" y="-63503"/>
            <a:ext cx="15621000" cy="6362700"/>
          </a:xfrm>
          <a:custGeom>
            <a:avLst/>
            <a:gdLst/>
            <a:ahLst/>
            <a:cxnLst/>
            <a:rect r="r" b="b" t="t" l="l"/>
            <a:pathLst>
              <a:path h="6362700" w="15621000">
                <a:moveTo>
                  <a:pt x="0" y="0"/>
                </a:moveTo>
                <a:lnTo>
                  <a:pt x="15621000" y="0"/>
                </a:lnTo>
                <a:lnTo>
                  <a:pt x="15621000" y="6362700"/>
                </a:lnTo>
                <a:lnTo>
                  <a:pt x="0" y="636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00" y="257127"/>
            <a:ext cx="1370219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07 // Business Value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973160"/>
            <a:ext cx="4816812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Real-World Impact on MSMEs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4228757"/>
            <a:ext cx="7691818" cy="72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-&gt; </a:t>
            </a:r>
            <a:r>
              <a:rPr lang="en-US" b="true" sz="1599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Zero-Cost Intelligence</a:t>
            </a:r>
          </a:p>
          <a:p>
            <a:pPr algn="l">
              <a:lnSpc>
                <a:spcPts val="1825"/>
              </a:lnSpc>
            </a:pPr>
            <a:r>
              <a:rPr lang="en-US" sz="14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Bypasses the need for expensive third-party compliance consultants, keeping vital capital inside the small enterprise.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000" y="2768251"/>
            <a:ext cx="7732938" cy="64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-&gt; </a:t>
            </a:r>
            <a:r>
              <a:rPr lang="en-US" b="true" sz="1599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Time-to-Market Acceleration</a:t>
            </a:r>
          </a:p>
          <a:p>
            <a:pPr algn="l">
              <a:lnSpc>
                <a:spcPts val="1564"/>
              </a:lnSpc>
            </a:pPr>
            <a:r>
              <a:rPr lang="en-US" sz="120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Reduces compliance discovery from weeks to exactly 1.6 seconds, eliminating regulatory bottlenecks for new product launches.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000" y="5689254"/>
            <a:ext cx="7819634" cy="72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-&gt; </a:t>
            </a:r>
            <a:r>
              <a:rPr lang="en-US" b="true" sz="1599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Data Privacy &amp; Security</a:t>
            </a:r>
          </a:p>
          <a:p>
            <a:pPr algn="l">
              <a:lnSpc>
                <a:spcPts val="1825"/>
              </a:lnSpc>
            </a:pPr>
            <a:r>
              <a:rPr lang="en-US" sz="1399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Offline-first architecture (Local FAISS + Local Ollama Qwen) ensures proprietary MSE product details never leave their servers.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7635" y="4225185"/>
            <a:ext cx="648452" cy="114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spc="1350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383000" cy="6603997"/>
          </a:xfrm>
          <a:custGeom>
            <a:avLst/>
            <a:gdLst/>
            <a:ahLst/>
            <a:cxnLst/>
            <a:rect r="r" b="b" t="t" l="l"/>
            <a:pathLst>
              <a:path h="6603997" w="16383000">
                <a:moveTo>
                  <a:pt x="0" y="0"/>
                </a:moveTo>
                <a:lnTo>
                  <a:pt x="16383000" y="0"/>
                </a:lnTo>
                <a:lnTo>
                  <a:pt x="16383000" y="6603997"/>
                </a:lnTo>
                <a:lnTo>
                  <a:pt x="0" y="660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257127"/>
            <a:ext cx="1092784" cy="24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08 //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973160"/>
            <a:ext cx="2519763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Project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74590" y="1900257"/>
            <a:ext cx="2760964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AdityaProCoder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02235" y="2479948"/>
            <a:ext cx="50416" cy="30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D3EE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94109" y="2479948"/>
            <a:ext cx="1905143" cy="30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D3EE"/>
                </a:solidFill>
                <a:latin typeface="Helvetica"/>
                <a:ea typeface="Helvetica"/>
                <a:cs typeface="Helvetica"/>
                <a:sym typeface="Helvetica"/>
              </a:rPr>
              <a:t>AI / BackendDeveloper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5097" y="4668793"/>
            <a:ext cx="699516" cy="21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94A3B8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1867" y="4980337"/>
            <a:ext cx="3990508" cy="40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8FAF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github.com/AdityaProCoder/bis_rag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7123" y="6441729"/>
            <a:ext cx="7427395" cy="20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50">
                <a:solidFill>
                  <a:srgbClr val="94A3B8"/>
                </a:solidFill>
                <a:latin typeface="Helvetica"/>
                <a:ea typeface="Helvetica"/>
                <a:cs typeface="Helvetica"/>
                <a:sym typeface="Helvetica"/>
              </a:rPr>
              <a:t>Special thanks to the hackathon organizers for providing the BIS dataset and a rigorous evaluation framework.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9495" y="6823167"/>
            <a:ext cx="3220155" cy="25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b="true" sz="1150">
                <a:solidFill>
                  <a:srgbClr val="94A3B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Built entirely within the hackathon timeframe.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DAHIiYtaCps</dc:identifier>
  <dcterms:modified xsi:type="dcterms:W3CDTF">2011-08-01T06:04:30Z</dcterms:modified>
  <cp:revision>1</cp:revision>
  <dc:title>ppt_bis_chat.pdf</dc:title>
</cp:coreProperties>
</file>